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8A8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47472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FACEGUARD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Offline Facial Recognition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Liveness Detection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•  Datalake 3.0 Integration  • 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React Native  |  Android &amp; iOS  |  Zero Internet Required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2011680" cy="1188720"/>
          </a:xfrm>
          <a:prstGeom prst="rect">
            <a:avLst/>
          </a:prstGeom>
          <a:solidFill>
            <a:srgbClr val="264B7F"/>
          </a:solidFill>
          <a:ln w="12700">
            <a:solidFill>
              <a:srgbClr val="3A6DB5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1572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914400"/>
            <a:ext cx="2011680" cy="1188720"/>
          </a:xfrm>
          <a:prstGeom prst="rect">
            <a:avLst/>
          </a:prstGeom>
          <a:solidFill>
            <a:srgbClr val="264B7F"/>
          </a:solidFill>
          <a:ln w="12700">
            <a:solidFill>
              <a:srgbClr val="3A6DB5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&lt;300ms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0" y="1572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Pipeline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2011680" cy="1188720"/>
          </a:xfrm>
          <a:prstGeom prst="rect">
            <a:avLst/>
          </a:prstGeom>
          <a:solidFill>
            <a:srgbClr val="264B7F"/>
          </a:solidFill>
          <a:ln w="12700">
            <a:solidFill>
              <a:srgbClr val="3A6DB5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30358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Accuracy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377440"/>
            <a:ext cx="2011680" cy="1188720"/>
          </a:xfrm>
          <a:prstGeom prst="rect">
            <a:avLst/>
          </a:prstGeom>
          <a:solidFill>
            <a:srgbClr val="264B7F"/>
          </a:solidFill>
          <a:ln w="12700">
            <a:solidFill>
              <a:srgbClr val="3A6DB5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30358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Operation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840480"/>
            <a:ext cx="2011680" cy="1188720"/>
          </a:xfrm>
          <a:prstGeom prst="rect">
            <a:avLst/>
          </a:prstGeom>
          <a:solidFill>
            <a:srgbClr val="264B7F"/>
          </a:solidFill>
          <a:ln w="12700">
            <a:solidFill>
              <a:srgbClr val="3A6DB5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3977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44988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Only  •  MIT / Apache-2.0  •  No Commercial Licenses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fail in the field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150876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990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441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Zero-Network Zones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0352" y="178308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personnel operate in remote areas with no internet access. Cloud-based biometric APIs fail completely — even cached token solutions break.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2344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234440"/>
            <a:ext cx="64008" cy="15087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39903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3441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Fraud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65192" y="178308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 using printed photos or pre-recorded videos is widespread. Basic liveness checks are trivially bypassed.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29260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926080"/>
            <a:ext cx="64008" cy="1508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9067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0358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Bloated AI Models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30352" y="347472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face recognition SDKs exceed 200 MB. The Datalake 3.0 app has a strict ~20 MB model budget — most SDKs are immediately disqualified.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00600" y="29260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926080"/>
            <a:ext cx="64008" cy="15087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09067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30358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Data Loss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65192" y="347472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attendance logs are lost or duplicated when connectivity is restored intermittently, causing serious payroll processing errors.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E0F5F5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we accurately authenticate field personnel using face recognition — fully offline, on mid-range devices, with anti-spoofing?"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FaceGuard aims to achieve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Accurate Recognition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&gt;95% facial recognition accuracy across diverse Indian demographics, harsh outdoor lighting (sunlight, low light, shadows).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37160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9019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Operation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auth pipeline — face detection, liveness, recognition — must run with zero internet dependency on standard mid-range phones.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37160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9019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Model Footprint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model size of ~20 MB or less to seamlessly integrate into the Datalake 3.0 React Native app without bloating the package.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06324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593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 Liveness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reject spoofing via photos, videos, or screens using passive and active liveness detection — blink detection + challenge-response.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06324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593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Compatibility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deploy on both Android (8.0+) and iOS (12+) with React Native, targeting devices with minimum 3 GB RAM, no GPU required.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06324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593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AWS Integration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attendance data stored in SQLite must sync to AWS S3 when connectivity is available, with exponential backoff and purge on success.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CONSTRAINTS &amp; SPECIFICATIONS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85800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0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1064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(Android + iOS)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4356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deployment, no native-only APIs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6858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685800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740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Footprint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5192" y="11064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~20 MB target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5192" y="14356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bloat the Datalake 3.0 app package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57400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1122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Speed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24780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second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28072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+ liveness on standard mid-range devices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0574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057400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1122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65192" y="24780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8.0+ / iOS 12+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5192" y="28072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3 GB RAM, no high-end GPU required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29000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4838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" y="3849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95% threshold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" y="4178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Indian demographics, varied lighting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429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429000"/>
            <a:ext cx="4114800" cy="38404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4838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Only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65192" y="3849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/ Apache-2.0 licensed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65192" y="4178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licenses, source code required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Offline Authentication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23444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Camera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Processor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VisionCamera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54480" y="1499616"/>
            <a:ext cx="210312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64792" y="1097280"/>
            <a:ext cx="1234440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64792" y="11704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64792" y="17190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UltraLight 1.1MB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99232" y="1499616"/>
            <a:ext cx="210312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9544" y="1097280"/>
            <a:ext cx="1234440" cy="96012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9544" y="11704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9544" y="17190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MiniVGG 2.1MB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43984" y="1499616"/>
            <a:ext cx="210312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1097280"/>
            <a:ext cx="1234440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54296" y="11704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54296" y="17190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4.8MB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88736" y="1499616"/>
            <a:ext cx="210312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9048" y="1097280"/>
            <a:ext cx="123444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99048" y="11704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99048" y="17190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33488" y="1499616"/>
            <a:ext cx="210312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1097280"/>
            <a:ext cx="1234440" cy="960120"/>
          </a:xfrm>
          <a:prstGeom prst="rect">
            <a:avLst/>
          </a:prstGeom>
          <a:solidFill>
            <a:srgbClr val="1A9E6A"/>
          </a:solidFill>
          <a:ln w="12700">
            <a:solidFill>
              <a:srgbClr val="1A9E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43800" y="11704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17190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 DB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233172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532888"/>
            <a:ext cx="347472" cy="34747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41832" y="24414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941832" y="278892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face embeddings are encrypted locally before storage. No raw biometric data persists in plaintext.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754880" y="233172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532888"/>
            <a:ext cx="347472" cy="34747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376672" y="24414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Liveness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5376672" y="278892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blink detection + LBP texture analysis + optical flow micro-motion + challenge-response spoofing prevention.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20040" y="35661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767328"/>
            <a:ext cx="347472" cy="34747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941832" y="367588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Sync to AWS S3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941832" y="402336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sync when network available. Local data purged after confirmed server receipt.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4754880" y="35661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767328"/>
            <a:ext cx="347472" cy="34747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376672" y="367588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5376672" y="402336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are MIT/Apache-2.0. ONNX → TFLite conversion pipeline. Full source code provided.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608" y="594360"/>
            <a:ext cx="2743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594360"/>
            <a:ext cx="2743200" cy="6858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6400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" y="96012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Ultra-Light-Fast-Generic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2336" y="1371600"/>
            <a:ext cx="804672" cy="594360"/>
          </a:xfrm>
          <a:prstGeom prst="rect">
            <a:avLst/>
          </a:prstGeom>
          <a:solidFill>
            <a:srgbClr val="0D8A8A">
              <a:alpha val="12000"/>
            </a:srgbClr>
          </a:solidFill>
          <a:ln w="12700">
            <a:solidFill>
              <a:srgbClr val="0D8A8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71016" y="1371600"/>
            <a:ext cx="804672" cy="594360"/>
          </a:xfrm>
          <a:prstGeom prst="rect">
            <a:avLst/>
          </a:prstGeom>
          <a:solidFill>
            <a:srgbClr val="0D8A8A">
              <a:alpha val="12000"/>
            </a:srgbClr>
          </a:solidFill>
          <a:ln w="12700">
            <a:solidFill>
              <a:srgbClr val="0D8A8A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101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7101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39696" y="1371600"/>
            <a:ext cx="804672" cy="594360"/>
          </a:xfrm>
          <a:prstGeom prst="rect">
            <a:avLst/>
          </a:prstGeom>
          <a:solidFill>
            <a:srgbClr val="0D8A8A">
              <a:alpha val="12000"/>
            </a:srgbClr>
          </a:solidFill>
          <a:ln w="12700">
            <a:solidFill>
              <a:srgbClr val="0D8A8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969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3969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FDDB Acc.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9768" y="2084832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320×240 RGB frames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+ 5-point landmarks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pose: yaw / pitch / roll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architecture, INT8 quantized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→ TFLite conversion pipeline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18688" y="594360"/>
            <a:ext cx="2743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8688" y="594360"/>
            <a:ext cx="27432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6400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Recognizer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28416" y="96012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INT8 Quantized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28416" y="1371600"/>
            <a:ext cx="804672" cy="594360"/>
          </a:xfrm>
          <a:prstGeom prst="rect">
            <a:avLst/>
          </a:prstGeom>
          <a:solidFill>
            <a:srgbClr val="1B3A6B">
              <a:alpha val="12000"/>
            </a:srgbClr>
          </a:solidFill>
          <a:ln w="12700">
            <a:solidFill>
              <a:srgbClr val="1B3A6B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MB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2841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97096" y="1371600"/>
            <a:ext cx="804672" cy="594360"/>
          </a:xfrm>
          <a:prstGeom prst="rect">
            <a:avLst/>
          </a:prstGeom>
          <a:solidFill>
            <a:srgbClr val="1B3A6B">
              <a:alpha val="12000"/>
            </a:srgbClr>
          </a:solidFill>
          <a:ln w="12700">
            <a:solidFill>
              <a:srgbClr val="1B3A6B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9709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~61ms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9709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65776" y="1371600"/>
            <a:ext cx="804672" cy="594360"/>
          </a:xfrm>
          <a:prstGeom prst="rect">
            <a:avLst/>
          </a:prstGeom>
          <a:solidFill>
            <a:srgbClr val="1B3A6B">
              <a:alpha val="12000"/>
            </a:srgbClr>
          </a:solidFill>
          <a:ln w="12700">
            <a:solidFill>
              <a:srgbClr val="1B3A6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6577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LFW Acc.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55848" y="2084832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112×112 face crop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128-dim L2-normalized embedding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+ PReLU + Global Average Pool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threshold: 0.65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MS1M + VGGFace2 datasets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44768" y="594360"/>
            <a:ext cx="2743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44768" y="594360"/>
            <a:ext cx="2743200" cy="6858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6400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54496" y="96012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MiniVGG + Classical CV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54496" y="1371600"/>
            <a:ext cx="804672" cy="594360"/>
          </a:xfrm>
          <a:prstGeom prst="rect">
            <a:avLst/>
          </a:prstGeom>
          <a:solidFill>
            <a:srgbClr val="E85D26">
              <a:alpha val="12000"/>
            </a:srgbClr>
          </a:solidFill>
          <a:ln w="12700">
            <a:solidFill>
              <a:srgbClr val="E85D26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MB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5449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23176" y="1371600"/>
            <a:ext cx="804672" cy="594360"/>
          </a:xfrm>
          <a:prstGeom prst="rect">
            <a:avLst/>
          </a:prstGeom>
          <a:solidFill>
            <a:srgbClr val="E85D26">
              <a:alpha val="12000"/>
            </a:srgbClr>
          </a:solidFill>
          <a:ln w="12700">
            <a:solidFill>
              <a:srgbClr val="E85D26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2317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~35ms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2317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991856" y="1371600"/>
            <a:ext cx="804672" cy="594360"/>
          </a:xfrm>
          <a:prstGeom prst="rect">
            <a:avLst/>
          </a:prstGeom>
          <a:solidFill>
            <a:srgbClr val="E85D26">
              <a:alpha val="12000"/>
            </a:srgbClr>
          </a:solidFill>
          <a:ln w="12700">
            <a:solidFill>
              <a:srgbClr val="E85D26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91856" y="138988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991856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 Rej.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81928" y="2084832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blink detection (dlib landmarks)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 texture analysis (print/screen detect)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micro-motion analysis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Challenge-response blink sequencing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photos, videos, 3D masks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&amp; ANTI-SPOOFING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attendance fraud at every layer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61872"/>
            <a:ext cx="475488" cy="47548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Blink Detection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15568" y="14996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Aspect Ratio analysis via facial landmarks. User must blink naturally. Detects and rejects static photos immediately.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21992"/>
            <a:ext cx="475488" cy="47548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21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130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 Texture Analysis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15568" y="245973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Binary Patterns detect screen/print artifacts. Printed photos and digital screens have characteristic texture signatures.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182112"/>
            <a:ext cx="475488" cy="475488"/>
          </a:xfrm>
          <a:prstGeom prst="ellipse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82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3090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Micro-Motion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15568" y="341985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subtle micro-movements between frames. Real faces show involuntary micro-motions; spoofing media does not.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142232"/>
            <a:ext cx="475488" cy="47548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42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4050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Challenge-Response Protocol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15568" y="43799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instruction sequence: blink left eye, then right, turn head. Prevents replay attacks using pre-recorded videos.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E0F5F5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layers run fully offline on-device — no server round-trip needed at any stage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MANAGEMENT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3977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594360"/>
            <a:ext cx="39776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7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201168" cy="20116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612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3990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embeddings encrypted before SQLite storage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892808"/>
            <a:ext cx="201168" cy="20116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8470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Biometrics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0848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encrypted 128-dim vectors are persisted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578608"/>
            <a:ext cx="201168" cy="20116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5328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Key Storage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7706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keys stored in Android Keystore / iOS Secure Enclave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264408"/>
            <a:ext cx="201168" cy="20116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2186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34564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attendance record metadata synced to AWS — no face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950208"/>
            <a:ext cx="201168" cy="20116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9044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Design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41422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biometric computation happens on-device only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594360"/>
            <a:ext cx="42519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594360"/>
            <a:ext cx="4251960" cy="4572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667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Sync &amp; Purge Mechanism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1728" y="1170432"/>
            <a:ext cx="4005072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252728"/>
            <a:ext cx="384048" cy="38404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48656" y="1188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Check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48656" y="1444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polls for network availability at configurable intervals using NetInfo API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81728" y="1975104"/>
            <a:ext cx="4005072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2057400"/>
            <a:ext cx="384048" cy="38404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48656" y="1993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Pending Records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48656" y="22494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query fetches all unsynced attendance logs ordered by timestamp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81728" y="2779776"/>
            <a:ext cx="4005072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862072"/>
            <a:ext cx="384048" cy="38404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862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48656" y="27980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AWS S3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48656" y="30540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 with exponential backoff retry on failure (1s → 2s → 4s → max 30s)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81728" y="3584448"/>
            <a:ext cx="4005072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3168" y="3666744"/>
            <a:ext cx="384048" cy="38404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666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48656" y="36027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Purge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48656" y="3858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server acknowledgment, local records are marked synced and purged per policy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920240" cy="13258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13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Model Size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81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≤20 MB  ✓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640080"/>
            <a:ext cx="1920240" cy="1325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713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&lt;300ms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Pipeline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581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&lt;1000ms 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640080"/>
            <a:ext cx="1920240" cy="1325880"/>
          </a:xfrm>
          <a:prstGeom prst="rect">
            <a:avLst/>
          </a:prstGeom>
          <a:solidFill>
            <a:srgbClr val="1A9E6A"/>
          </a:solidFill>
          <a:ln w="12700">
            <a:solidFill>
              <a:srgbClr val="1A9E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713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581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&gt;95%    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640080"/>
            <a:ext cx="1920240" cy="13258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713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675120" y="1307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 Rejection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1581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  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Latency Breakdown (on mid-range Android)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25603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(UltraLight)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66160" y="2633472"/>
            <a:ext cx="6254496" cy="219456"/>
          </a:xfrm>
          <a:prstGeom prst="rect">
            <a:avLst/>
          </a:prstGeom>
          <a:solidFill>
            <a:srgbClr val="D4DDE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2633472"/>
            <a:ext cx="458663" cy="21945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97975" y="25603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0358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Check (MiniVGG + EAR)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66160" y="3108960"/>
            <a:ext cx="6254496" cy="219456"/>
          </a:xfrm>
          <a:prstGeom prst="rect">
            <a:avLst/>
          </a:prstGeom>
          <a:solidFill>
            <a:srgbClr val="D4DDE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66160" y="3108960"/>
            <a:ext cx="729691" cy="219456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69003" y="303580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51129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Embedding (MobileFaceNet)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66160" y="3584448"/>
            <a:ext cx="6254496" cy="219456"/>
          </a:xfrm>
          <a:prstGeom prst="rect">
            <a:avLst/>
          </a:prstGeom>
          <a:solidFill>
            <a:srgbClr val="D4DDE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3584448"/>
            <a:ext cx="1271748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1060" y="351129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61ms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98678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Matching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566160" y="4059936"/>
            <a:ext cx="6254496" cy="219456"/>
          </a:xfrm>
          <a:prstGeom prst="rect">
            <a:avLst/>
          </a:prstGeom>
          <a:solidFill>
            <a:srgbClr val="D4DDE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4059936"/>
            <a:ext cx="104242" cy="219456"/>
          </a:xfrm>
          <a:prstGeom prst="rect">
            <a:avLst/>
          </a:prstGeom>
          <a:solidFill>
            <a:srgbClr val="1A9E6A"/>
          </a:solidFill>
          <a:ln w="12700">
            <a:solidFill>
              <a:srgbClr val="1A9E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3554" y="398678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4622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Auth Pipeline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566160" y="4535424"/>
            <a:ext cx="6254496" cy="219456"/>
          </a:xfrm>
          <a:prstGeom prst="rect">
            <a:avLst/>
          </a:prstGeom>
          <a:solidFill>
            <a:srgbClr val="D4DDE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66160" y="4535424"/>
            <a:ext cx="2564343" cy="219456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03655" y="446227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TECH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Deliverables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521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15214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+ Source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React Native app demonstrating full offline capability on Android &amp; iOS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1122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11226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Liveness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Blink, head-turn, challenge-response — passive + active anti-spoofing implemented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07238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07238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Sync &amp; Purge Mechanism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3832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for S3 sync when connectivity restored; local purge after confirmed receipt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03250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03250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Technical Docs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+ PDF with model architecture, integration steps, and performance benchmarks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6217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078992"/>
            <a:ext cx="4114800" cy="402336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1521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Framework: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11521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VisionCamera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55448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16276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(ONNX → TFLite)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029968"/>
            <a:ext cx="4114800" cy="402336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103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INT8 Quantized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50545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578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/ PAD: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25786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MiniVGG + dlib + OpenCV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980944"/>
            <a:ext cx="4114800" cy="402336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0540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30540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(react-native-sqlite-storage)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45643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5295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46520" y="35295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(react-native-encrypted-storage)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931920"/>
            <a:ext cx="4114800" cy="402336"/>
          </a:xfrm>
          <a:prstGeom prst="rect">
            <a:avLst/>
          </a:prstGeom>
          <a:solidFill>
            <a:srgbClr val="EEF2F8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005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46520" y="40050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via aws-sdk-js-v3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440740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480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46520" y="4480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/ Apache-2.0 only — zero commercial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D8A8A">
              <a:alpha val="20000"/>
            </a:srgbClr>
          </a:solidFill>
          <a:ln w="12700">
            <a:solidFill>
              <a:srgbClr val="0D8A8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88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FaceGuard: The Complete Answer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B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Offline Biometric Authentication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05840" y="2423160"/>
            <a:ext cx="201168" cy="20116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377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— zero internet dependency at any step of authentication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05840" y="2825496"/>
            <a:ext cx="201168" cy="20116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77977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MB model footprint — well within Datalake 3.0's 20 MB budget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227832"/>
            <a:ext cx="201168" cy="20116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18211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anti-spoofing prevents photos, videos, and replay attacks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05840" y="3630168"/>
            <a:ext cx="201168" cy="20116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58444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 local storage — no raw biometrics ever persisted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4032504"/>
            <a:ext cx="201168" cy="20116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398678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AWS S3 sync + purge when connectivity is restored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5840" y="4434840"/>
            <a:ext cx="201168" cy="20116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4389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 (MIT / Apache-2.0) — no commercial licenses required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•  Datalake 3.0 Integration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FaceGuard – Secure Offline Facial Recognition</dc:title>
  <dc:subject>PptxGenJS Presentation</dc:subject>
  <dc:creator>PptxGenJS</dc:creator>
  <cp:lastModifiedBy>PptxGenJS</cp:lastModifiedBy>
  <cp:revision>1</cp:revision>
  <dcterms:created xsi:type="dcterms:W3CDTF">2026-06-04T02:19:50Z</dcterms:created>
  <dcterms:modified xsi:type="dcterms:W3CDTF">2026-06-04T02:19:50Z</dcterms:modified>
</cp:coreProperties>
</file>
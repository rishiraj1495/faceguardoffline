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8A8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47472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FACEGUARD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Offline Facial Recognition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Liveness Detection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•  Datalake 3.0 Integration  •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React Native  |  Android &amp; iOS  |  Zero Internet Required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035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37744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3035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Operation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84048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4498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Only  •  MIT / Apache-2.0  •  No Commercial Licenses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 in the field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5087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44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Zero-Network Zones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" y="178308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personnel operate in remote areas with no internet access. Cloud-based biometric APIs fail completely — even cached token solutions break.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234440"/>
            <a:ext cx="64008" cy="15087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990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344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Fraud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65192" y="178308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using printed photos or pre-recorded videos is widespread. Basic liveness checks are trivially bypassed.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926080"/>
            <a:ext cx="64008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906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035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 AI Models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0352" y="347472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face recognition SDKs exceed 200 MB. The Datalake 3.0 app has a strict ~20 MB model budget — most SDKs are immediately disqualified.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26080"/>
            <a:ext cx="64008" cy="1508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0906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035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Data Loss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65192" y="347472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attendance logs are lost or duplicated when connectivity is restored intermittently, causing serious payroll processing errors.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E0F5F5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accurately authenticate field personnel using face recognition — fully offline, on mid-range devices, with anti-spoofing?"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FaceGuard aims to achieve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Accurate Recognition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&gt;95% facial recognition accuracy across diverse Indian demographics, harsh outdoor lighting (sunlight, low light, shadows).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901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Operation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auth pipeline — face detection, liveness, recognition — must run with zero internet dependency on standard mid-range phones.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37160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901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 Footprint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size of ~20 MB or less to seamlessly integrate into the Datalake 3.0 React Native app without bloating the package.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593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Liveness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reject spoofing via photos, videos, or screens using passive and active liveness detection — blink detection + challenge-response.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06324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593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Compatibility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deploy on both Android (8.0+) and iOS (12+) with React Native, targeting devices with minimum 3 GB RAM, no GPU required.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06324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593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AWS Integration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attendance data stored in SQLite must sync to AWS S3 when connectivity is available, with exponential backoff and purge on success.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CONSTRAINTS &amp; SPECIFICATIONS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0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106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(Android + iOS)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deployment, no native-only APIs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6858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6858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740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1106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~20 MB target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435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bloat the Datalake 3.0 app package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112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478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807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liveness on standard mid-range devices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574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112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2478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 / iOS 12+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2807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3 GB RAM, no high-end GPU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290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3849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 threshold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4178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Indian demographics, varied lighting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4290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Only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849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Apache-2.0 licensed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65192" y="4178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licenses, source code required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Offline Authentication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23444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Camera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Processor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VisionCamera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0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64792" y="1097280"/>
            <a:ext cx="123444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64792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64792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UltraLight 1.1MB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99232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9544" y="1097280"/>
            <a:ext cx="1234440" cy="9601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9544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9544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MiniVGG 2.1MB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43984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097280"/>
            <a:ext cx="123444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4.8MB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88736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1097280"/>
            <a:ext cx="123444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99048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33488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097280"/>
            <a:ext cx="1234440" cy="960120"/>
          </a:xfrm>
          <a:prstGeom prst="rect">
            <a:avLst/>
          </a:prstGeom>
          <a:solidFill>
            <a:srgbClr val="1A9E6A"/>
          </a:solidFill>
          <a:ln w="12700">
            <a:solidFill>
              <a:srgbClr val="1A9E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DB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3317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532888"/>
            <a:ext cx="347472" cy="34747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41832" y="2441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41832" y="27889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face embeddings are encrypted locally before storage. No raw biometric data persists in plaintext.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54880" y="23317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532888"/>
            <a:ext cx="347472" cy="34747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376672" y="2441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Liveness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376672" y="27889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blink detection + LBP texture analysis + optical flow micro-motion + challenge-response spoofing prevention.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20040" y="35661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767328"/>
            <a:ext cx="347472" cy="34747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41832" y="36758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Sync to AWS S3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941832" y="40233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sync when network available. Local data purged after confirmed server receipt.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754880" y="35661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767328"/>
            <a:ext cx="347472" cy="34747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376672" y="36758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5376672" y="40233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MIT/Apache-2.0. ONNX → TFLite conversion pipeline. Full source code provided.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" y="594360"/>
            <a:ext cx="2743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594360"/>
            <a:ext cx="2743200" cy="6858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6400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9601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Ultra-Light-Fast-Generic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2336" y="1371600"/>
            <a:ext cx="804672" cy="594360"/>
          </a:xfrm>
          <a:prstGeom prst="rect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71016" y="1371600"/>
            <a:ext cx="804672" cy="594360"/>
          </a:xfrm>
          <a:prstGeom prst="rect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01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7101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39696" y="1371600"/>
            <a:ext cx="804672" cy="594360"/>
          </a:xfrm>
          <a:prstGeom prst="rect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969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FDDB Acc.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" y="208483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320×240 RGB frames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+ 5-point landmarks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pose: yaw / pitch / roll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architecture, INT8 quantized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→ TFLite conversion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594360"/>
            <a:ext cx="2743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594360"/>
            <a:ext cx="27432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6400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Recognizer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28416" y="9601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INT8 Quantized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28416" y="1371600"/>
            <a:ext cx="804672" cy="594360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1B3A6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MB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2841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97096" y="1371600"/>
            <a:ext cx="804672" cy="594360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1B3A6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9709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9709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65776" y="1371600"/>
            <a:ext cx="804672" cy="594360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1B3A6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6577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Acc.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55848" y="208483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112×112 face crop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128-dim L2-normalized embedding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+ PReLU + Global Average Pool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threshold: 0.65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MS1M + VGGFace2 datasets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594360"/>
            <a:ext cx="2743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594360"/>
            <a:ext cx="2743200" cy="6858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6400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4496" y="9601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MiniVGG + Classical CV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54496" y="1371600"/>
            <a:ext cx="804672" cy="594360"/>
          </a:xfrm>
          <a:prstGeom prst="rect">
            <a:avLst/>
          </a:prstGeom>
          <a:solidFill>
            <a:srgbClr val="E85D26">
              <a:alpha val="12000"/>
            </a:srgbClr>
          </a:solidFill>
          <a:ln w="12700">
            <a:solidFill>
              <a:srgbClr val="E85D26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5449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23176" y="1371600"/>
            <a:ext cx="804672" cy="594360"/>
          </a:xfrm>
          <a:prstGeom prst="rect">
            <a:avLst/>
          </a:prstGeom>
          <a:solidFill>
            <a:srgbClr val="E85D26">
              <a:alpha val="12000"/>
            </a:srgbClr>
          </a:solidFill>
          <a:ln w="12700">
            <a:solidFill>
              <a:srgbClr val="E85D26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317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2317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991856" y="1371600"/>
            <a:ext cx="804672" cy="594360"/>
          </a:xfrm>
          <a:prstGeom prst="rect">
            <a:avLst/>
          </a:prstGeom>
          <a:solidFill>
            <a:srgbClr val="E85D26">
              <a:alpha val="12000"/>
            </a:srgbClr>
          </a:solidFill>
          <a:ln w="12700">
            <a:solidFill>
              <a:srgbClr val="E85D26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9185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99185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Rej.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81928" y="208483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blink detection (dlib landmarks)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texture analysis (print/screen detect)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micro-motion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Challenge-response blink sequencing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photos, videos, 3D masks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&amp; ANTI-SPOOFING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attendance fraud at every layer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6187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Blink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14996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analysis via facial landmarks. User must blink naturally. Detects and rejects static photos immediately.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21992"/>
            <a:ext cx="475488" cy="47548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130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Texture 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24597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Binary Patterns detect screen/print artifacts. Printed photos and digital screens have characteristic texture signatures.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82112"/>
            <a:ext cx="475488" cy="475488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090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Micro-Motion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5568" y="341985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subtle micro-movements between frames. Real faces show involuntary micro-motions; spoofing media does not.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142232"/>
            <a:ext cx="475488" cy="47548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42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4050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Challenge-Response Protocol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15568" y="43799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instruction sequence: blink left eye, then right, turn head. Prevents replay attacks using pre-recorded videos.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E0F5F5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layers run fully offline on-device — no server round-trip needed at any stage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3977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594360"/>
            <a:ext cx="39776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7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612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3990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embeddings encrypted before SQLite storage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8470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Biometrics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0848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encrypted 128-dim vectors are persisted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328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770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keys stored in Android Keystore / iOS Secure Enclave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644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2186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34564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attendance record metadata synced to AWS — no face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9502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904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41422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biometric computation happens on-device only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594360"/>
            <a:ext cx="42519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594360"/>
            <a:ext cx="4251960" cy="4572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667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Sync &amp; Purge Mechanism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1728" y="1170432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252728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48656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Check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48656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polls for network availability at configurable intervals using NetInfo API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1975104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2057400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48656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Pending Records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48656" y="2249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query fetches all unsynced attendance logs ordered by timestamp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81728" y="2779776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862072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862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48656" y="27980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AWS S3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48656" y="3054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 with exponential backoff retry on failure (1s → 2s → 4s → max 30s)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81728" y="3584448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3666744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48656" y="3602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Purge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48656" y="3858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server acknowledgment, local records are marked synced and purged per policy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920240" cy="1325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 Size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≤20 MB  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640080"/>
            <a:ext cx="1920240" cy="1325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&lt;1000ms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640080"/>
            <a:ext cx="1920240" cy="1325880"/>
          </a:xfrm>
          <a:prstGeom prst="rect">
            <a:avLst/>
          </a:prstGeom>
          <a:solidFill>
            <a:srgbClr val="1A9E6A"/>
          </a:solidFill>
          <a:ln w="12700">
            <a:solidFill>
              <a:srgbClr val="1A9E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&gt;95%    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640080"/>
            <a:ext cx="1920240" cy="13258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Rejection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 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Latency Breakdown (on mid-range Android)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25603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(UltraLight)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66160" y="2633472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633472"/>
            <a:ext cx="458663" cy="21945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97975" y="25603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0358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 (MiniVGG + EAR)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3108960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3108960"/>
            <a:ext cx="729691" cy="21945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9003" y="30358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5112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 (MobileFaceNet)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66160" y="3584448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584448"/>
            <a:ext cx="127174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1060" y="351129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9867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Matching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0" y="4059936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4059936"/>
            <a:ext cx="104242" cy="219456"/>
          </a:xfrm>
          <a:prstGeom prst="rect">
            <a:avLst/>
          </a:prstGeom>
          <a:solidFill>
            <a:srgbClr val="1A9E6A"/>
          </a:solidFill>
          <a:ln w="12700">
            <a:solidFill>
              <a:srgbClr val="1A9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3554" y="398678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4622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Auth Pipeline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66160" y="4535424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6160" y="4535424"/>
            <a:ext cx="2564343" cy="219456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3655" y="44622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Deliverables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521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+ Source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React Native app demonstrating full offline capability on Android &amp; iOS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122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122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Liveness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Blink, head-turn, challenge-response — passive + active anti-spoofing implemented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0723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0723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Sync &amp; Purge Mechanism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S3 sync when connectivity restored; local purge after confirmed receipt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325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03250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Technical 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+ PDF with model architecture, integration steps, and performance benchmarks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621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521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Framework: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1152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VisionCamera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55448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1627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(ONNX → TFLite)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029968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INT8 Quantized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50545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78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/ PAD: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25786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MiniVGG + dlib + OpenCV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80944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540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30540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(react-native-sqlite-storage)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4564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529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35295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(react-native-encrypted-storage)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931920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4005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via aws-sdk-js-v3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4074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480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4480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Apache-2.0 only — zero commercial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8A8A">
              <a:alpha val="20000"/>
            </a:srgbClr>
          </a:solidFill>
          <a:ln w="12700">
            <a:solidFill>
              <a:srgbClr val="0D8A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8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FaceGuard: The Complete Answer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Offline Biometric Authentication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2423160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— zero internet dependency at any step of authentication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2825496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77977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MB model footprint — well within Datalake 3.0's 20 MB budget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227832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1821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anti-spoofing prevents photos, videos, and replay attacks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3630168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5844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local storage — no raw biometrics ever persisted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4032504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98678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AWS S3 sync + purge when connectivity is restored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4434840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(MIT / Apache-2.0) — no commercial licenses required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•  Datalake 3.0 Integration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8A8A">
              <a:alpha val="20000"/>
            </a:srgbClr>
          </a:solidFill>
          <a:ln w="12700">
            <a:solidFill>
              <a:srgbClr val="0D8A8A">
                <a:alpha val="20000"/>
              </a:srgbClr>
            </a:solidFill>
          </a:ln>
        </p:spPr>
      </p:sp>
      <p:sp>
        <p:nvSpPr>
          <p:cNvPr id="3" name="Deco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</a:ln>
        </p:spPr>
      </p:sp>
      <p:sp>
        <p:nvSpPr>
          <p:cNvPr id="4" name="SectionLabel"/>
          <p:cNvSpPr/>
          <p:nvPr/>
        </p:nvSpPr>
        <p:spPr>
          <a:xfrm>
            <a:off x="640080" y="320040"/>
            <a:ext cx="786384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b="1" spc="400">
                <a:solidFill>
                  <a:srgbClr val="0D8A8A"/>
                </a:solidFill>
                <a:latin typeface="Calibri"/>
              </a:rPr>
              <a:t>TEAM</a:t>
            </a:r>
          </a:p>
        </p:txBody>
      </p:sp>
      <p:sp>
        <p:nvSpPr>
          <p:cNvPr id="5" name="MainTitle"/>
          <p:cNvSpPr/>
          <p:nvPr/>
        </p:nvSpPr>
        <p:spPr>
          <a:xfrm>
            <a:off x="640080" y="580000"/>
            <a:ext cx="786384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Calibri"/>
              </a:rPr>
              <a:t>Group Members</a:t>
            </a:r>
          </a:p>
        </p:txBody>
      </p:sp>
      <p:sp>
        <p:nvSpPr>
          <p:cNvPr id="6" name="Card1"/>
          <p:cNvSpPr/>
          <p:nvPr/>
        </p:nvSpPr>
        <p:spPr>
          <a:xfrm>
            <a:off x="457200" y="1200000"/>
            <a:ext cx="2600000" cy="1000000"/>
          </a:xfrm>
          <a:prstGeom prst="rect">
            <a:avLst/>
          </a:prstGeom>
          <a:solidFill>
            <a:srgbClr val="0D2E5C"/>
          </a:solidFill>
          <a:ln w="19050">
            <a:solidFill>
              <a:srgbClr val="0D8A8A"/>
            </a:solidFill>
          </a:ln>
        </p:spPr>
      </p:sp>
      <p:sp>
        <p:nvSpPr>
          <p:cNvPr id="7" name="CardText1"/>
          <p:cNvSpPr/>
          <p:nvPr/>
        </p:nvSpPr>
        <p:spPr>
          <a:xfrm>
            <a:off x="457200" y="1200000"/>
            <a:ext cx="2600000" cy="100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15240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</a:rPr>
              <a:t>Rishi Raj</a:t>
            </a:r>
          </a:p>
          <a:p>
            <a:pPr algn="ctr"/>
            <a:r>
              <a:rPr lang="en-US" sz="1300">
                <a:solidFill>
                  <a:srgbClr val="0D8A8A"/>
                </a:solidFill>
                <a:latin typeface="Calibri"/>
              </a:rPr>
              <a:t>24BCE10149</a:t>
            </a:r>
          </a:p>
        </p:txBody>
      </p:sp>
      <p:sp>
        <p:nvSpPr>
          <p:cNvPr id="8" name="Card2"/>
          <p:cNvSpPr/>
          <p:nvPr/>
        </p:nvSpPr>
        <p:spPr>
          <a:xfrm>
            <a:off x="3272000" y="1200000"/>
            <a:ext cx="2600000" cy="1000000"/>
          </a:xfrm>
          <a:prstGeom prst="rect">
            <a:avLst/>
          </a:prstGeom>
          <a:solidFill>
            <a:srgbClr val="0D2E5C"/>
          </a:solidFill>
          <a:ln w="19050">
            <a:solidFill>
              <a:srgbClr val="0D8A8A"/>
            </a:solidFill>
          </a:ln>
        </p:spPr>
      </p:sp>
      <p:sp>
        <p:nvSpPr>
          <p:cNvPr id="9" name="CardText2"/>
          <p:cNvSpPr/>
          <p:nvPr/>
        </p:nvSpPr>
        <p:spPr>
          <a:xfrm>
            <a:off x="3272000" y="1200000"/>
            <a:ext cx="2600000" cy="100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15240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</a:rPr>
              <a:t>Swastik Sinha</a:t>
            </a:r>
          </a:p>
          <a:p>
            <a:pPr algn="ctr"/>
            <a:r>
              <a:rPr lang="en-US" sz="1300">
                <a:solidFill>
                  <a:srgbClr val="0D8A8A"/>
                </a:solidFill>
                <a:latin typeface="Calibri"/>
              </a:rPr>
              <a:t>24BEY10075</a:t>
            </a:r>
          </a:p>
        </p:txBody>
      </p:sp>
      <p:sp>
        <p:nvSpPr>
          <p:cNvPr id="10" name="Card3"/>
          <p:cNvSpPr/>
          <p:nvPr/>
        </p:nvSpPr>
        <p:spPr>
          <a:xfrm>
            <a:off x="6086800" y="1200000"/>
            <a:ext cx="2600000" cy="1000000"/>
          </a:xfrm>
          <a:prstGeom prst="rect">
            <a:avLst/>
          </a:prstGeom>
          <a:solidFill>
            <a:srgbClr val="0D2E5C"/>
          </a:solidFill>
          <a:ln w="19050">
            <a:solidFill>
              <a:srgbClr val="0D8A8A"/>
            </a:solidFill>
          </a:ln>
        </p:spPr>
      </p:sp>
      <p:sp>
        <p:nvSpPr>
          <p:cNvPr id="11" name="CardText3"/>
          <p:cNvSpPr/>
          <p:nvPr/>
        </p:nvSpPr>
        <p:spPr>
          <a:xfrm>
            <a:off x="6086800" y="1200000"/>
            <a:ext cx="2600000" cy="100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15240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</a:rPr>
              <a:t>Brotodeep Pal</a:t>
            </a:r>
          </a:p>
          <a:p>
            <a:pPr algn="ctr"/>
            <a:r>
              <a:rPr lang="en-US" sz="1300">
                <a:solidFill>
                  <a:srgbClr val="0D8A8A"/>
                </a:solidFill>
                <a:latin typeface="Calibri"/>
              </a:rPr>
              <a:t>24BCE10477</a:t>
            </a:r>
          </a:p>
        </p:txBody>
      </p:sp>
      <p:sp>
        <p:nvSpPr>
          <p:cNvPr id="12" name="Card4"/>
          <p:cNvSpPr/>
          <p:nvPr/>
        </p:nvSpPr>
        <p:spPr>
          <a:xfrm>
            <a:off x="1864800" y="2350000"/>
            <a:ext cx="2600000" cy="1000000"/>
          </a:xfrm>
          <a:prstGeom prst="rect">
            <a:avLst/>
          </a:prstGeom>
          <a:solidFill>
            <a:srgbClr val="0D2E5C"/>
          </a:solidFill>
          <a:ln w="19050">
            <a:solidFill>
              <a:srgbClr val="F5A623"/>
            </a:solidFill>
          </a:ln>
        </p:spPr>
      </p:sp>
      <p:sp>
        <p:nvSpPr>
          <p:cNvPr id="13" name="CardText4"/>
          <p:cNvSpPr/>
          <p:nvPr/>
        </p:nvSpPr>
        <p:spPr>
          <a:xfrm>
            <a:off x="1864800" y="2350000"/>
            <a:ext cx="2600000" cy="100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15240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</a:rPr>
              <a:t>Arnab Kumar</a:t>
            </a:r>
          </a:p>
          <a:p>
            <a:pPr algn="ctr"/>
            <a:r>
              <a:rPr lang="en-US" sz="1300">
                <a:solidFill>
                  <a:srgbClr val="F5A623"/>
                </a:solidFill>
                <a:latin typeface="Calibri"/>
              </a:rPr>
              <a:t>24BCE11017</a:t>
            </a:r>
          </a:p>
        </p:txBody>
      </p:sp>
      <p:sp>
        <p:nvSpPr>
          <p:cNvPr id="14" name="Card5"/>
          <p:cNvSpPr/>
          <p:nvPr/>
        </p:nvSpPr>
        <p:spPr>
          <a:xfrm>
            <a:off x="4679200" y="2350000"/>
            <a:ext cx="2600000" cy="1000000"/>
          </a:xfrm>
          <a:prstGeom prst="rect">
            <a:avLst/>
          </a:prstGeom>
          <a:solidFill>
            <a:srgbClr val="0D2E5C"/>
          </a:solidFill>
          <a:ln w="19050">
            <a:solidFill>
              <a:srgbClr val="F5A623"/>
            </a:solidFill>
          </a:ln>
        </p:spPr>
      </p:sp>
      <p:sp>
        <p:nvSpPr>
          <p:cNvPr id="15" name="CardText5"/>
          <p:cNvSpPr/>
          <p:nvPr/>
        </p:nvSpPr>
        <p:spPr>
          <a:xfrm>
            <a:off x="4679200" y="2350000"/>
            <a:ext cx="2600000" cy="100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15240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</a:rPr>
              <a:t>Abhiash Singh</a:t>
            </a:r>
          </a:p>
          <a:p>
            <a:pPr algn="ctr"/>
            <a:r>
              <a:rPr lang="en-US" sz="1300">
                <a:solidFill>
                  <a:srgbClr val="F5A623"/>
                </a:solidFill>
                <a:latin typeface="Calibri"/>
              </a:rPr>
              <a:t>24BCE10706</a:t>
            </a:r>
          </a:p>
        </p:txBody>
      </p:sp>
      <p:sp>
        <p:nvSpPr>
          <p:cNvPr id="16" name="Footer"/>
          <p:cNvSpPr/>
          <p:nvPr/>
        </p:nvSpPr>
        <p:spPr>
          <a:xfrm>
            <a:off x="640080" y="4700000"/>
            <a:ext cx="7863840" cy="3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000">
                <a:solidFill>
                  <a:srgbClr val="FFFFFF">
                    <a:alpha val="60000"/>
                  </a:srgbClr>
                </a:solidFill>
                <a:latin typeface="Calibri"/>
              </a:rPr>
              <a:t>Hackathon 7.0  •  Datalake 3.0 Integration  •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FaceGuard – Secure Offline Facial Recognition</dc:title>
  <dc:subject>PptxGenJS Presentation</dc:subject>
  <dc:creator>PptxGenJS</dc:creator>
  <cp:lastModifiedBy>PptxGenJS</cp:lastModifiedBy>
  <cp:revision>1</cp:revision>
  <dcterms:created xsi:type="dcterms:W3CDTF">2026-06-04T02:19:50Z</dcterms:created>
  <dcterms:modified xsi:type="dcterms:W3CDTF">2026-06-04T02:19:50Z</dcterms:modified>
</cp:coreProperties>
</file>